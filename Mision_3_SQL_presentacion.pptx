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Los datos tienen que vivir en algún sitio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4 HORAS · PROYECTO AI CUSTOMER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MISIÓN 3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SQL · Bases de datos · Datos para Inteligencia Artificial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Reto: construir la base de datos que alimentará nuestro servicio de predicción.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La historia: los CSV ya no bastan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La empresa guarda clientes y operaciones en archivos dispersos.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Hay registros repetidos, actualizaciones inconsistentes y consultas lentas.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El equipo de IA necesita datos fiables y trazables.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Objetivos de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1. Comprender tablas, claves primarias y foráneas.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2. Crear una base de datos relacional con MySQL.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3. Consultar, filtrar, unir y agregar datos.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4. Construir un dataset para un futuro modelo de IA.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5. Documentar y versionar scripts SQL en Git.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Agenda de la misión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00–20  Incidente inicial y diagnóstico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20–45  Modelo relacional y diseño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45–85  Reto 1: crear tablas y cargar datos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85–100 Reto 2: SELECT, WHERE y ORDER BY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100–110 Descanso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110–150 Reto 3: JOIN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150–185 Reto 4: GROUP BY y HAVING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185–195 Descanso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195–225 Reto final: dataset para IA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225–240 Presentación, entrega y puente a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Incidente: ¿qué está fallando?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clientes.csv y operaciones.csv contienen datos relacionados.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¿Y si el mismo cliente aparece con nombres diferentes?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¿Y si borramos un cliente con operaciones asociadas?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Debate: ¿qué problemas de integridad y mantenimiento aparecen?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Modelo relacional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CLIENTES (1) ────────── (N) OPERACIONES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CLIENTES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id_cliente · nombre · ciudad · antiguedad_meses · abandono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OPERACIONES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id_operacion · id_cliente · fecha · importe · canal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Claves primarias y foráneas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PRIMARY KEY: identifica de forma única cada fila.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FOREIGN KEY: conecta tablas y protege la integridad referencial.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Regla: una operación debe pertenecer a un cliente existente.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Nuestro esquema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7492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4617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Crearemos una base de datos y dos tablas relacionadas.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Usaremos claves, tipos adecuados y restricciones.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63040"/>
            <a:ext cx="5577840" cy="4526280"/>
          </a:xfrm>
          <a:prstGeom prst="roundRect">
            <a:avLst/>
          </a:prstGeom>
          <a:solidFill>
            <a:srgbClr val="12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700784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CREATE DATABASE ai_customer;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USE ai_customer;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CREATE TABLE clientes (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id_cliente INT PRIMARY KEY,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nombre VARCHAR(80),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ciudad VARCHAR(50),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antiguedad_meses INT,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abandono TINYINT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Tabla operaciones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7492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4617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Cada cliente puede tener muchas operaciones.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La clave foránea impide operaciones huérfanas.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63040"/>
            <a:ext cx="5577840" cy="4526280"/>
          </a:xfrm>
          <a:prstGeom prst="roundRect">
            <a:avLst/>
          </a:prstGeom>
          <a:solidFill>
            <a:srgbClr val="12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700784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CREATE TABLE operaciones (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id_operacion INT PRIMARY KEY,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id_cliente INT NOT NULL,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fecha DATE,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importe DECIMAL(10,2),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canal VARCHAR(30),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FOREIGN KEY (id_cliente)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REFERENCES clientes(id_cliente)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Reto 1 · Construye la 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7492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4617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1. Ejecuta el script de creación.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2. Carga los datos de ejemplo.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3. Verifica el número de filas de cada tabla.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4. Inspecciona la estructura.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Evidencia: captura de tablas y consultas de comprobación.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63040"/>
            <a:ext cx="5577840" cy="4526280"/>
          </a:xfrm>
          <a:prstGeom prst="roundRect">
            <a:avLst/>
          </a:prstGeom>
          <a:solidFill>
            <a:srgbClr val="12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700784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SHOW TABLES;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DESCRIBE clientes;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DESCRIBE operaciones;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SELECT COUNT(*) FROM clientes;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SELECT COUNT(*) FROM operaciones;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SELECT: la primera 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7492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4617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Seleccionamos columnas de una tabla.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Evita SELECT * en consultas finales si solo necesitas unas pocas columnas.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63040"/>
            <a:ext cx="5577840" cy="4526280"/>
          </a:xfrm>
          <a:prstGeom prst="roundRect">
            <a:avLst/>
          </a:prstGeom>
          <a:solidFill>
            <a:srgbClr val="12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700784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SELECT id_cliente, nombre, ciudad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FROM clientes;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SELECT DISTINCT ciudad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FROM clientes;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WHERE y ORDER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7492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4617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WHERE filtra registros.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ORDER BY ordena los resultados.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LIMIT restringe cuántas filas se muestran.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63040"/>
            <a:ext cx="5577840" cy="4526280"/>
          </a:xfrm>
          <a:prstGeom prst="roundRect">
            <a:avLst/>
          </a:prstGeom>
          <a:solidFill>
            <a:srgbClr val="12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700784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SELECT nombre, antiguedad_meses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FROM clientes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WHERE antiguedad_meses &gt;= 12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ORDER BY antiguedad_meses DESC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LIMIT 10;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Reto 2 · Investiga a tus clientes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1. Encuentra clientes de Madrid.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2. Localiza clientes con menos de 6 meses.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3. Ordena los clientes por antigüedad.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4. Identifica los clientes marcados con abandono.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Explica por qué cada filtro es útil para el negocio.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JOIN: conectar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7492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4617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INNER JOIN devuelve coincidencias entre ambas tablas.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LEFT JOIN conserva todos los clientes, incluso si no tienen operaciones.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63040"/>
            <a:ext cx="5577840" cy="4526280"/>
          </a:xfrm>
          <a:prstGeom prst="roundRect">
            <a:avLst/>
          </a:prstGeom>
          <a:solidFill>
            <a:srgbClr val="12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700784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SELECT c.nombre, o.fecha, o.importe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FROM clientes c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INNER JOIN operaciones o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ON c.id_cliente = o.id_cliente;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INNER JOIN frente a LEFT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INNER JOIN: solo clientes con operaciones.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LEFT JOIN: todos los clientes; las operaciones ausentes aparecen como NULL.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Pregunta: ¿qué JOIN conviene para identificar clientes inactivos?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Reto 3 · Detecta actividad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7492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4617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1. Lista las operaciones junto al nombre del cliente.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2. Encuentra clientes sin operaciones.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3. Muestra operaciones superiores a 200 €.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4. Cuenta las operaciones de un cliente concreto.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63040"/>
            <a:ext cx="5577840" cy="4526280"/>
          </a:xfrm>
          <a:prstGeom prst="roundRect">
            <a:avLst/>
          </a:prstGeom>
          <a:solidFill>
            <a:srgbClr val="12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700784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SELECT c.id_cliente, c.nombre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FROM clientes c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LEFT JOIN operaciones o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ON c.id_cliente = o.id_cliente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WHERE o.id_operacion IS NULL;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Agregaciones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7492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4617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COUNT cuenta filas.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SUM suma importes.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AVG calcula promedios.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MIN y MAX muestran extremos.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63040"/>
            <a:ext cx="5577840" cy="4526280"/>
          </a:xfrm>
          <a:prstGeom prst="roundRect">
            <a:avLst/>
          </a:prstGeom>
          <a:solidFill>
            <a:srgbClr val="12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700784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SELECT id_cliente,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COUNT(*) AS num_operaciones,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SUM(importe) AS gasto_total,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AVG(importe) AS ticket_medio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FROM operaciones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GROUP BY id_cliente;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GROUP BY y HAVING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7492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4617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GROUP BY crea grupos para agregaciones.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HAVING filtra los grupos resultantes.</a:t>
            </a: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WHERE filtra filas antes de agrupar; HAVING filtra grupos después.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63040"/>
            <a:ext cx="5577840" cy="4526280"/>
          </a:xfrm>
          <a:prstGeom prst="roundRect">
            <a:avLst/>
          </a:prstGeom>
          <a:solidFill>
            <a:srgbClr val="12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700784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SELECT id_cliente,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SUM(importe) AS gasto_total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FROM operaciones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GROUP BY id_cliente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HAVING SUM(importe) &gt; 500;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Reto 4 · Indicadores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1. Gasto total por cliente.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2. Número de operaciones por canal.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3. Ticket medio por cliente.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4. Clientes con gasto superior a 500 €.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Entrega: consultas SQL comentadas y explicación de resultados.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¿Qué necesita realmente un modelo de 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Una fila por cliente.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Columnas numéricas útiles: antigüedad, número de operaciones, gasto total, ticket medio.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Etiqueta: abandono (0/1).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Evita incluir identificadores como variables predictoras por defecto.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Reto final · Construye 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Diseña una consulta con LEFT JOIN y agregaciones.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Incluye clientes sin operaciones usando COALESCE.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Produce una fila por cliente.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Verifica que el número de filas coincide con el número de clientes.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Consulta final ·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7492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9928"/>
            <a:ext cx="4617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E2837"/>
                </a:solidFill>
                <a:latin typeface="Aptos"/>
              </a:defRPr>
            </a:pPr>
            <a:r>
              <a:t>Esta consulta será el puente directo a Python en la Misión 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63040"/>
            <a:ext cx="5577840" cy="4526280"/>
          </a:xfrm>
          <a:prstGeom prst="roundRect">
            <a:avLst/>
          </a:prstGeom>
          <a:solidFill>
            <a:srgbClr val="12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700784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SELECT c.id_cliente,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c.antiguedad_meses,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COALESCE(COUNT(o.id_operacion),0)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 AS num_operaciones,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COALESCE(SUM(o.importe),0)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 AS gasto_total,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COALESCE(AVG(o.importe),0)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 AS ticket_medio,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c.abandono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FROM clientes c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LEFT JOIN operaciones o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ON c.id_cliente=o.id_cliente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GROUP BY c.id_cliente,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 c.antiguedad_meses,c.abandono;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Calidad y 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¿Hay duplicados por cliente?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¿Aparecen valores NULL inesperados?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¿El número de filas coincide con los clientes?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¿Los importes y recuentos son coherentes?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Una consulta que ejecuta no siempre produce datos correctos.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¿Qué entregamos?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Repositorio GitHub con: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01_creacion.sql · 02_datos.sql · 03_retos.sql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04_dataset_ia.sql · README.md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Incluye respuestas, explicación de resultados y evidencias de ejecución.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Rúbrica · 10 puntos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Diseño e integridad relacional: 2 puntos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Consultas SELECT y filtros: 1,5 puntos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JOIN y relaciones: 2 puntos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Agregaciones: 1,5 puntos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Dataset para IA y validación: 2 puntos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Documentación, Git y explicación: 1 punto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29768" cy="429768"/>
          </a:xfrm>
          <a:prstGeom prst="roundRect">
            <a:avLst/>
          </a:prstGeom>
          <a:solidFill>
            <a:srgbClr val="EA2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3464" y="320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22643"/>
                </a:solidFill>
                <a:latin typeface="Aptos"/>
              </a:defRPr>
            </a:pPr>
            <a:r>
              <a:t>Cierre · ¿Qué hemos construido?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04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2D28"/>
                </a:solidFill>
                <a:latin typeface="Aptos"/>
              </a:defRPr>
            </a:pPr>
            <a:r>
              <a:t>MISIÓN 3 ·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27080" cy="452628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92224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Una base de datos consistente.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Consultas útiles para el negocio.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Un dataset por cliente preparado para modelado.</a:t>
            </a: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E2837"/>
                </a:solidFill>
                <a:latin typeface="Aptos"/>
              </a:defRPr>
            </a:pPr>
            <a:r>
              <a:t>Misión 4: conectaremos Python a MySQL y automatizaremos la extracción.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122643"/>
                </a:solidFill>
                <a:latin typeface="Aptos"/>
              </a:defRPr>
            </a:pPr>
            <a:r>
              <a:t>Programación y Entornos en IA · Máster Universitario en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EA2D28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